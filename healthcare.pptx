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90" r:id="rId15"/>
    <p:sldId id="291"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83BCC9-35FB-49B9-89E2-15BCCF12337B}" v="18" dt="2026-02-01T10:44:41.98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86"/>
  </p:normalViewPr>
  <p:slideViewPr>
    <p:cSldViewPr snapToGrid="0">
      <p:cViewPr varScale="1">
        <p:scale>
          <a:sx n="92" d="100"/>
          <a:sy n="92" d="100"/>
        </p:scale>
        <p:origin x="56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AI –Based Preventive Health Risk Assessment System</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002060"/>
                </a:solidFill>
                <a:latin typeface="Times New Roman"/>
                <a:ea typeface="Times New Roman"/>
                <a:cs typeface="Times New Roman"/>
                <a:sym typeface="Times New Roman"/>
              </a:rPr>
              <a:t>AEVIA</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37813477"/>
              </p:ext>
            </p:extLst>
          </p:nvPr>
        </p:nvGraphicFramePr>
        <p:xfrm>
          <a:off x="1688168" y="2018224"/>
          <a:ext cx="8313375" cy="3699300"/>
        </p:xfrm>
        <a:graphic>
          <a:graphicData uri="http://schemas.openxmlformats.org/drawingml/2006/table">
            <a:tbl>
              <a:tblPr>
                <a:noFill/>
                <a:tableStyleId>{0AAD8F4D-43EB-41E5-8A38-28AB6DFB1B60}</a:tableStyleId>
              </a:tblPr>
              <a:tblGrid>
                <a:gridCol w="2049862">
                  <a:extLst>
                    <a:ext uri="{9D8B030D-6E8A-4147-A177-3AD203B41FA5}">
                      <a16:colId xmlns:a16="http://schemas.microsoft.com/office/drawing/2014/main" val="20000"/>
                    </a:ext>
                  </a:extLst>
                </a:gridCol>
                <a:gridCol w="2100943">
                  <a:extLst>
                    <a:ext uri="{9D8B030D-6E8A-4147-A177-3AD203B41FA5}">
                      <a16:colId xmlns:a16="http://schemas.microsoft.com/office/drawing/2014/main" val="20002"/>
                    </a:ext>
                  </a:extLst>
                </a:gridCol>
                <a:gridCol w="2688772">
                  <a:extLst>
                    <a:ext uri="{9D8B030D-6E8A-4147-A177-3AD203B41FA5}">
                      <a16:colId xmlns:a16="http://schemas.microsoft.com/office/drawing/2014/main" val="20003"/>
                    </a:ext>
                  </a:extLst>
                </a:gridCol>
                <a:gridCol w="1473798">
                  <a:extLst>
                    <a:ext uri="{9D8B030D-6E8A-4147-A177-3AD203B41FA5}">
                      <a16:colId xmlns:a16="http://schemas.microsoft.com/office/drawing/2014/main" val="20004"/>
                    </a:ext>
                  </a:extLst>
                </a:gridCol>
              </a:tblGrid>
              <a:tr h="711538">
                <a:tc>
                  <a:txBody>
                    <a:bodyPr/>
                    <a:lstStyle/>
                    <a:p>
                      <a:pPr marL="0" marR="0" lvl="0" indent="0" algn="ctr" rtl="0">
                        <a:spcBef>
                          <a:spcPts val="0"/>
                        </a:spcBef>
                        <a:spcAft>
                          <a:spcPts val="0"/>
                        </a:spcAft>
                        <a:buNone/>
                      </a:pPr>
                      <a:r>
                        <a:rPr lang="en-US" sz="1800" u="none" strike="noStrike" cap="none" dirty="0"/>
                        <a:t>TEAM MEMBER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885612">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latin typeface="+mj-lt"/>
                          <a:cs typeface="Times New Roman" panose="02020603050405020304" pitchFamily="18" charset="0"/>
                        </a:rPr>
                        <a:t>NISARGA S</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nisargasgowda95@gmail.com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r>
                        <a:rPr lang="en-IN" dirty="0">
                          <a:latin typeface="+mj-lt"/>
                          <a:cs typeface="Times New Roman" panose="02020603050405020304" pitchFamily="18" charset="0"/>
                        </a:rPr>
                        <a:t>8050788307</a:t>
                      </a:r>
                      <a:endParaRPr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930493">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latin typeface="+mj-lt"/>
                          <a:cs typeface="Times New Roman" panose="02020603050405020304" pitchFamily="18" charset="0"/>
                        </a:rPr>
                        <a:t>RAMYA S</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ramyas2005ramyas@gmail.com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r>
                        <a:rPr lang="en-IN" dirty="0">
                          <a:latin typeface="+mj-lt"/>
                          <a:cs typeface="Times New Roman" panose="02020603050405020304" pitchFamily="18" charset="0"/>
                        </a:rPr>
                        <a:t>9036762783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741028">
                <a:tc>
                  <a:txBody>
                    <a:bodyPr/>
                    <a:lstStyle/>
                    <a:p>
                      <a:pPr marL="0" marR="0" lvl="0" indent="0" algn="l" rtl="0">
                        <a:spcBef>
                          <a:spcPts val="0"/>
                        </a:spcBef>
                        <a:spcAft>
                          <a:spcPts val="0"/>
                        </a:spcAft>
                        <a:buNone/>
                      </a:pPr>
                      <a:endParaRPr lang="en-IN" sz="14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en-IN" sz="14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400"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sz="1400"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800" dirty="0">
                        <a:latin typeface="+mj-lt"/>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211939" y="6245242"/>
            <a:ext cx="11520407" cy="310052"/>
          </a:xfrm>
          <a:prstGeom prst="rect">
            <a:avLst/>
          </a:prstGeom>
        </p:spPr>
      </p:pic>
      <p:pic>
        <p:nvPicPr>
          <p:cNvPr id="3" name="Picture 2">
            <a:extLst>
              <a:ext uri="{FF2B5EF4-FFF2-40B4-BE49-F238E27FC236}">
                <a16:creationId xmlns:a16="http://schemas.microsoft.com/office/drawing/2014/main" id="{04F37C14-DA3D-BB8A-AE2A-953B9AC10AF9}"/>
              </a:ext>
            </a:extLst>
          </p:cNvPr>
          <p:cNvPicPr>
            <a:picLocks noChangeAspect="1"/>
          </p:cNvPicPr>
          <p:nvPr/>
        </p:nvPicPr>
        <p:blipFill>
          <a:blip r:embed="rId4"/>
          <a:stretch>
            <a:fillRect/>
          </a:stretch>
        </p:blipFill>
        <p:spPr>
          <a:xfrm>
            <a:off x="3947859" y="4209490"/>
            <a:ext cx="1621390" cy="1030002"/>
          </a:xfrm>
          <a:prstGeom prst="rect">
            <a:avLst/>
          </a:prstGeom>
        </p:spPr>
      </p:pic>
      <p:pic>
        <p:nvPicPr>
          <p:cNvPr id="8" name="Picture 7">
            <a:extLst>
              <a:ext uri="{FF2B5EF4-FFF2-40B4-BE49-F238E27FC236}">
                <a16:creationId xmlns:a16="http://schemas.microsoft.com/office/drawing/2014/main" id="{D43469FC-477E-449B-2B72-BFF7A20AD7A1}"/>
              </a:ext>
            </a:extLst>
          </p:cNvPr>
          <p:cNvPicPr>
            <a:picLocks noChangeAspect="1"/>
          </p:cNvPicPr>
          <p:nvPr/>
        </p:nvPicPr>
        <p:blipFill>
          <a:blip r:embed="rId5"/>
          <a:stretch>
            <a:fillRect/>
          </a:stretch>
        </p:blipFill>
        <p:spPr>
          <a:xfrm>
            <a:off x="3947859" y="3039533"/>
            <a:ext cx="1758674" cy="847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705303" y="678522"/>
            <a:ext cx="9126728" cy="3539430"/>
          </a:xfrm>
          <a:prstGeom prst="rect">
            <a:avLst/>
          </a:prstGeom>
          <a:noFill/>
        </p:spPr>
        <p:txBody>
          <a:bodyPr wrap="square" rtlCol="0">
            <a:spAutoFit/>
          </a:bodyPr>
          <a:lstStyle/>
          <a:p>
            <a:endParaRPr lang="en-US" b="1" dirty="0">
              <a:solidFill>
                <a:srgbClr val="0A0A0A"/>
              </a:solidFill>
              <a:latin typeface="+mj-lt"/>
            </a:endParaRPr>
          </a:p>
          <a:p>
            <a:r>
              <a:rPr lang="en-US" b="1" dirty="0">
                <a:solidFill>
                  <a:srgbClr val="0A0A0A"/>
                </a:solidFill>
                <a:latin typeface="+mj-lt"/>
              </a:rPr>
              <a:t>AI-Based Preventive Health Risk Assessment System</a:t>
            </a:r>
          </a:p>
          <a:p>
            <a:endParaRPr lang="en-US" b="1" dirty="0">
              <a:solidFill>
                <a:srgbClr val="0A0A0A"/>
              </a:solidFill>
              <a:latin typeface="+mj-lt"/>
            </a:endParaRPr>
          </a:p>
          <a:p>
            <a:r>
              <a:rPr lang="en-US" b="1" dirty="0">
                <a:solidFill>
                  <a:srgbClr val="0A0A0A"/>
                </a:solidFill>
                <a:latin typeface="+mj-lt"/>
              </a:rPr>
              <a:t>Problem statement under</a:t>
            </a:r>
          </a:p>
          <a:p>
            <a:endParaRPr lang="en-US" b="1" dirty="0">
              <a:solidFill>
                <a:srgbClr val="0A0A0A"/>
              </a:solidFill>
              <a:latin typeface="+mj-lt"/>
            </a:endParaRPr>
          </a:p>
          <a:p>
            <a:pPr marL="285750" indent="-285750">
              <a:buFont typeface="Arial" panose="020B0604020202020204" pitchFamily="34" charset="0"/>
              <a:buChar char="•"/>
            </a:pPr>
            <a:r>
              <a:rPr lang="en-US" b="1" dirty="0">
                <a:solidFill>
                  <a:srgbClr val="0A0A0A"/>
                </a:solidFill>
                <a:latin typeface="+mj-lt"/>
              </a:rPr>
              <a:t>Data Accessibility</a:t>
            </a:r>
            <a:r>
              <a:rPr lang="en-US" dirty="0">
                <a:solidFill>
                  <a:srgbClr val="0A0A0A"/>
                </a:solidFill>
                <a:latin typeface="+mj-lt"/>
              </a:rPr>
              <a:t>: AI models require large datasets to be effective. However, health data is often fragmented, siloed, or not easily accessible due to privacy concerns, regulations (like HIPAA), and inconsistent data standards across different healthcare providers.</a:t>
            </a:r>
          </a:p>
          <a:p>
            <a:endParaRPr lang="en-US" dirty="0">
              <a:solidFill>
                <a:srgbClr val="0A0A0A"/>
              </a:solidFill>
              <a:latin typeface="+mj-lt"/>
            </a:endParaRPr>
          </a:p>
          <a:p>
            <a:pPr marL="285750" indent="-285750">
              <a:buFont typeface="Arial" panose="020B0604020202020204" pitchFamily="34" charset="0"/>
              <a:buChar char="•"/>
            </a:pPr>
            <a:r>
              <a:rPr lang="en-US" b="1" dirty="0">
                <a:solidFill>
                  <a:srgbClr val="0A0A0A"/>
                </a:solidFill>
                <a:latin typeface="+mj-lt"/>
              </a:rPr>
              <a:t>Data Quality</a:t>
            </a:r>
            <a:r>
              <a:rPr lang="en-US" dirty="0">
                <a:solidFill>
                  <a:srgbClr val="0A0A0A"/>
                </a:solidFill>
                <a:latin typeface="+mj-lt"/>
              </a:rPr>
              <a:t>: Poor-quality or incomplete data can lead to inaccurate predictions. For example, if the dataset contains noisy or biased data, the AI model might generate misleading risk assessments.</a:t>
            </a:r>
          </a:p>
          <a:p>
            <a:endParaRPr lang="en-US" dirty="0">
              <a:solidFill>
                <a:srgbClr val="0A0A0A"/>
              </a:solidFill>
              <a:latin typeface="+mj-lt"/>
            </a:endParaRPr>
          </a:p>
          <a:p>
            <a:pPr marL="285750" indent="-285750">
              <a:buFont typeface="Arial" panose="020B0604020202020204" pitchFamily="34" charset="0"/>
              <a:buChar char="•"/>
            </a:pPr>
            <a:r>
              <a:rPr lang="en-US" b="1" dirty="0">
                <a:solidFill>
                  <a:srgbClr val="0A0A0A"/>
                </a:solidFill>
                <a:latin typeface="+mj-lt"/>
              </a:rPr>
              <a:t>Bias in Data</a:t>
            </a:r>
            <a:r>
              <a:rPr lang="en-US" dirty="0">
                <a:solidFill>
                  <a:srgbClr val="0A0A0A"/>
                </a:solidFill>
                <a:latin typeface="+mj-lt"/>
              </a:rPr>
              <a:t>: If the data used to train the AI system is not representative of diverse populations (e.g., underrepresentation of certain ethnic groups, genders, or age groups), the AI system may fail to provide accurate or equitable predictions for all patients</a:t>
            </a:r>
            <a:endParaRPr lang="en-US" b="0" i="0" dirty="0">
              <a:solidFill>
                <a:srgbClr val="0A0A0A"/>
              </a:solidFill>
              <a:effectLst/>
              <a:latin typeface="+mj-lt"/>
            </a:endParaRPr>
          </a:p>
          <a:p>
            <a:endParaRPr lang="en-IN" b="1"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7" name="TextBox 6">
            <a:extLst>
              <a:ext uri="{FF2B5EF4-FFF2-40B4-BE49-F238E27FC236}">
                <a16:creationId xmlns:a16="http://schemas.microsoft.com/office/drawing/2014/main" id="{99B1277F-CB6F-4F20-8E61-EFD22673E3FE}"/>
              </a:ext>
            </a:extLst>
          </p:cNvPr>
          <p:cNvSpPr txBox="1"/>
          <p:nvPr/>
        </p:nvSpPr>
        <p:spPr>
          <a:xfrm>
            <a:off x="893255" y="1488053"/>
            <a:ext cx="9427612" cy="2893100"/>
          </a:xfrm>
          <a:prstGeom prst="rect">
            <a:avLst/>
          </a:prstGeom>
          <a:noFill/>
        </p:spPr>
        <p:txBody>
          <a:bodyPr wrap="square">
            <a:spAutoFit/>
          </a:bodyPr>
          <a:lstStyle/>
          <a:p>
            <a:r>
              <a:rPr lang="en-US" b="1" dirty="0"/>
              <a:t>Proposed solution under:</a:t>
            </a:r>
          </a:p>
          <a:p>
            <a:endParaRPr lang="en-US" b="1" dirty="0"/>
          </a:p>
          <a:p>
            <a:pPr marL="285750" indent="-285750">
              <a:buFont typeface="Arial" panose="020B0604020202020204" pitchFamily="34" charset="0"/>
              <a:buChar char="•"/>
            </a:pPr>
            <a:r>
              <a:rPr lang="en-US" b="1" dirty="0"/>
              <a:t>System Architecture</a:t>
            </a:r>
          </a:p>
          <a:p>
            <a:r>
              <a:rPr lang="en-US" dirty="0"/>
              <a:t>The proposed system follows a modular and scalable architecture consisting of data acquisition, preprocessing, risk prediction, explainability, and decision-support modules. The architecture enables seamless integration with existing healthcare systems and supports continuous learning.</a:t>
            </a:r>
          </a:p>
          <a:p>
            <a:endParaRPr lang="en-US" dirty="0"/>
          </a:p>
          <a:p>
            <a:pPr marL="285750" indent="-285750">
              <a:buFont typeface="Arial" panose="020B0604020202020204" pitchFamily="34" charset="0"/>
              <a:buChar char="•"/>
            </a:pPr>
            <a:r>
              <a:rPr lang="en-US" b="1" dirty="0"/>
              <a:t>Data Acquisition and Integration</a:t>
            </a:r>
          </a:p>
          <a:p>
            <a:r>
              <a:rPr lang="en-US" dirty="0"/>
              <a:t>Health data are collected from multiple heterogeneous sources, including electronic health records (EHRs), laboratory reports, wearable devices, and patient-reported lifestyle information. Standard interoperability protocols such as HL7 and FHIR are employed to ensure compatibility with hospital information systems. Data encryption and anonymization techniques are applied at the collection stage to preserve patient privacy.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7" name="TextBox 6">
            <a:extLst>
              <a:ext uri="{FF2B5EF4-FFF2-40B4-BE49-F238E27FC236}">
                <a16:creationId xmlns:a16="http://schemas.microsoft.com/office/drawing/2014/main" id="{09F13249-8F31-4C7C-B01F-05FC276C6E02}"/>
              </a:ext>
            </a:extLst>
          </p:cNvPr>
          <p:cNvSpPr txBox="1"/>
          <p:nvPr/>
        </p:nvSpPr>
        <p:spPr>
          <a:xfrm>
            <a:off x="1034441" y="1447457"/>
            <a:ext cx="9023959" cy="3108543"/>
          </a:xfrm>
          <a:prstGeom prst="rect">
            <a:avLst/>
          </a:prstGeom>
          <a:noFill/>
        </p:spPr>
        <p:txBody>
          <a:bodyPr wrap="square">
            <a:spAutoFit/>
          </a:bodyPr>
          <a:lstStyle/>
          <a:p>
            <a:r>
              <a:rPr lang="en-US" dirty="0"/>
              <a:t>The growing complexity of healthcare, increasing prevalence of chronic diseases, and rapid expansion of health-related data have highlighted the need for intelligent preventive healthcare solutions. An AI-Based Preventive Health Risk Assessment System enables early identification of potential health risks and supports proactive medical intervention.</a:t>
            </a:r>
          </a:p>
          <a:p>
            <a:endParaRPr lang="en-US" dirty="0"/>
          </a:p>
          <a:p>
            <a:r>
              <a:rPr lang="en-US" dirty="0"/>
              <a:t>Firstly, most traditional healthcare systems follow a reactive approach, where diseases are diagnosed only after symptoms appear. This often results in delayed treatment, higher medical costs, and poor patient outcomes. AI-based preventive systems shift healthcare from treatment-centric to prevention-centric by predicting risks before disease onset.</a:t>
            </a:r>
          </a:p>
          <a:p>
            <a:endParaRPr lang="en-US" dirty="0"/>
          </a:p>
          <a:p>
            <a:r>
              <a:rPr lang="en-US" dirty="0"/>
              <a:t>Secondly, chronic diseases such as cardiovascular disorders, diabetes, and cancer contribute significantly to global mortality. These conditions typically develop over long periods and can be effectively managed or prevented if detected early. AI models can analyze historical and real-time patient data to identify early warning signs that are difficult for humans to detect</a:t>
            </a:r>
            <a:endParaRPr lang="en-IN" dirty="0"/>
          </a:p>
        </p:txBody>
      </p:sp>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1273CA-7EF7-F715-EF93-66F231F3ABD1}"/>
              </a:ext>
            </a:extLst>
          </p:cNvPr>
          <p:cNvSpPr txBox="1"/>
          <p:nvPr/>
        </p:nvSpPr>
        <p:spPr>
          <a:xfrm>
            <a:off x="961644" y="1363968"/>
            <a:ext cx="9316889" cy="3323987"/>
          </a:xfrm>
          <a:prstGeom prst="rect">
            <a:avLst/>
          </a:prstGeom>
          <a:noFill/>
        </p:spPr>
        <p:txBody>
          <a:bodyPr wrap="square" rtlCol="0">
            <a:spAutoFit/>
          </a:bodyPr>
          <a:lstStyle/>
          <a:p>
            <a:pPr marL="285750" indent="-285750">
              <a:buFont typeface="Arial" panose="020B0604020202020204" pitchFamily="34" charset="0"/>
              <a:buChar char="•"/>
            </a:pPr>
            <a:r>
              <a:rPr lang="en-US" b="1" dirty="0"/>
              <a:t>Patients and General Public</a:t>
            </a:r>
          </a:p>
          <a:p>
            <a:r>
              <a:rPr lang="en-US" dirty="0"/>
              <a:t>Patients are primary end users of the system. They utilize the platform to monitor their health status, receive personalized risk assessments, and obtain preventive recommendations. The system empowers individuals to take proactive control of their health through early risk awareness and lifestyle guidance.</a:t>
            </a:r>
          </a:p>
          <a:p>
            <a:endParaRPr lang="en-US" dirty="0"/>
          </a:p>
          <a:p>
            <a:pPr marL="285750" indent="-285750">
              <a:buFont typeface="Arial" panose="020B0604020202020204" pitchFamily="34" charset="0"/>
              <a:buChar char="•"/>
            </a:pPr>
            <a:r>
              <a:rPr lang="en-US" b="1" dirty="0"/>
              <a:t>Healthcare Professionals</a:t>
            </a:r>
          </a:p>
          <a:p>
            <a:r>
              <a:rPr lang="en-US" dirty="0"/>
              <a:t>Healthcare professionals, including physicians, nurses, and specialists, use the system as a clinical decision-support tool. The system assists in identifying high-risk patients, prioritizing preventive interventions, and improving diagnostic accuracy while maintaining human oversight in clinical decision-</a:t>
            </a:r>
            <a:r>
              <a:rPr lang="en-US" dirty="0" err="1"/>
              <a:t>makin</a:t>
            </a:r>
            <a:endParaRPr lang="en-US" dirty="0"/>
          </a:p>
          <a:p>
            <a:endParaRPr lang="en-US" dirty="0"/>
          </a:p>
          <a:p>
            <a:pPr marL="285750" indent="-285750">
              <a:buFont typeface="Arial" panose="020B0604020202020204" pitchFamily="34" charset="0"/>
              <a:buChar char="•"/>
            </a:pPr>
            <a:r>
              <a:rPr lang="en-US" b="1" dirty="0"/>
              <a:t>Health Insurance Providers</a:t>
            </a:r>
          </a:p>
          <a:p>
            <a:r>
              <a:rPr lang="en-US" dirty="0"/>
              <a:t>Insurance companies use risk assessment insights to support preventive care initiatives, optimize health plans, and reduce long-term claim costs. The system enables insurers to promote early interventions and wellness programs for high-risk individuals.</a:t>
            </a:r>
          </a:p>
          <a:p>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Agent  , Chat input , Chat output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First platform merging micro‑climate sensing, </a:t>
            </a:r>
            <a:r>
              <a:rPr lang="en-US" sz="1850" b="0" i="0" u="none" strike="noStrike" cap="none" dirty="0" err="1">
                <a:solidFill>
                  <a:srgbClr val="2B3541"/>
                </a:solidFill>
                <a:latin typeface="Times New Roman"/>
                <a:ea typeface="Times New Roman"/>
                <a:cs typeface="Times New Roman"/>
                <a:sym typeface="Times New Roman"/>
              </a:rPr>
              <a:t>GenAI</a:t>
            </a:r>
            <a:r>
              <a:rPr lang="en-US" sz="1850" b="0" i="0" u="none" strike="noStrike" cap="none" dirty="0">
                <a:solidFill>
                  <a:srgbClr val="2B3541"/>
                </a:solidFill>
                <a:latin typeface="Times New Roman"/>
                <a:ea typeface="Times New Roman"/>
                <a:cs typeface="Times New Roman"/>
                <a:sym typeface="Times New Roman"/>
              </a:rPr>
              <a:t>, and policy</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retrieval for urban adaptation.</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Uses non‑wearable, rooftop nodes—cheaper and easier to deploy</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city‑wide.</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Granite‑guarded outputs ensure bias‑free, regulation‑compliant</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advice.</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27462963-9BE9-1B92-091D-B8C85531F406}"/>
              </a:ext>
            </a:extLst>
          </p:cNvPr>
          <p:cNvPicPr>
            <a:picLocks noChangeAspect="1"/>
          </p:cNvPicPr>
          <p:nvPr/>
        </p:nvPicPr>
        <p:blipFill>
          <a:blip r:embed="rId4"/>
          <a:stretch>
            <a:fillRect/>
          </a:stretch>
        </p:blipFill>
        <p:spPr>
          <a:xfrm>
            <a:off x="3064933" y="999067"/>
            <a:ext cx="5757334" cy="5316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8823960" cy="4185761"/>
          </a:xfrm>
          <a:prstGeom prst="rect">
            <a:avLst/>
          </a:prstGeom>
          <a:noFill/>
        </p:spPr>
        <p:txBody>
          <a:bodyPr wrap="square" rtlCol="0">
            <a:spAutoFit/>
          </a:bodyPr>
          <a:lstStyle/>
          <a:p>
            <a:r>
              <a:rPr lang="en-US" dirty="0"/>
              <a:t>Explain the use of each </a:t>
            </a:r>
            <a:r>
              <a:rPr lang="en-US" dirty="0" err="1"/>
              <a:t>langflow</a:t>
            </a:r>
            <a:r>
              <a:rPr lang="en-US" dirty="0"/>
              <a:t> component  used into you project</a:t>
            </a:r>
          </a:p>
          <a:p>
            <a:endParaRPr lang="en-US" dirty="0"/>
          </a:p>
          <a:p>
            <a:endParaRPr lang="en-US" dirty="0"/>
          </a:p>
          <a:p>
            <a:r>
              <a:rPr lang="en-US" dirty="0"/>
              <a:t>1)Chat Input – Text input and prompt template.,</a:t>
            </a:r>
            <a:r>
              <a:rPr lang="en-US" sz="1400" dirty="0"/>
              <a:t> IBM Watsonx.ai</a:t>
            </a:r>
          </a:p>
          <a:p>
            <a:endParaRPr lang="en-US" dirty="0"/>
          </a:p>
          <a:p>
            <a:r>
              <a:rPr lang="en-US" dirty="0"/>
              <a:t>2) IBM </a:t>
            </a:r>
            <a:r>
              <a:rPr lang="en-US" dirty="0" err="1"/>
              <a:t>Watsonx</a:t>
            </a:r>
            <a:r>
              <a:rPr lang="en-US" dirty="0"/>
              <a:t> AI Agent</a:t>
            </a:r>
          </a:p>
          <a:p>
            <a:endParaRPr lang="en-US" dirty="0"/>
          </a:p>
          <a:p>
            <a:pPr marL="342900" indent="-342900">
              <a:buAutoNum type="arabicParenR" startAt="3"/>
            </a:pPr>
            <a:r>
              <a:rPr lang="en-US" dirty="0"/>
              <a:t>File component</a:t>
            </a:r>
          </a:p>
          <a:p>
            <a:pPr marL="342900" indent="-342900">
              <a:buAutoNum type="arabicParenR" startAt="3"/>
            </a:pPr>
            <a:endParaRPr lang="en-US" dirty="0"/>
          </a:p>
          <a:p>
            <a:pPr marL="342900" indent="-342900">
              <a:buAutoNum type="arabicParenR" startAt="3"/>
            </a:pPr>
            <a:r>
              <a:rPr lang="en-US" dirty="0"/>
              <a:t>Chat output </a:t>
            </a:r>
          </a:p>
          <a:p>
            <a:endParaRPr lang="en-US" dirty="0"/>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565C6918-47DE-A260-2609-481255F0A94E}"/>
              </a:ext>
            </a:extLst>
          </p:cNvPr>
          <p:cNvPicPr>
            <a:picLocks noChangeAspect="1"/>
          </p:cNvPicPr>
          <p:nvPr/>
        </p:nvPicPr>
        <p:blipFill>
          <a:blip r:embed="rId4"/>
          <a:stretch>
            <a:fillRect/>
          </a:stretch>
        </p:blipFill>
        <p:spPr>
          <a:xfrm>
            <a:off x="671592" y="956733"/>
            <a:ext cx="10233475" cy="492760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FF3357BC-0C0E-2491-E380-67F5309E5267}"/>
              </a:ext>
            </a:extLst>
          </p:cNvPr>
          <p:cNvPicPr>
            <a:picLocks noChangeAspect="1"/>
          </p:cNvPicPr>
          <p:nvPr/>
        </p:nvPicPr>
        <p:blipFill>
          <a:blip r:embed="rId4"/>
          <a:stretch>
            <a:fillRect/>
          </a:stretch>
        </p:blipFill>
        <p:spPr>
          <a:xfrm>
            <a:off x="448732" y="897467"/>
            <a:ext cx="10871201" cy="4944533"/>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6" y="6119323"/>
            <a:ext cx="11520407" cy="310052"/>
          </a:xfrm>
          <a:prstGeom prst="rect">
            <a:avLst/>
          </a:prstGeom>
        </p:spPr>
      </p:pic>
      <p:pic>
        <p:nvPicPr>
          <p:cNvPr id="4" name="Picture 3">
            <a:extLst>
              <a:ext uri="{FF2B5EF4-FFF2-40B4-BE49-F238E27FC236}">
                <a16:creationId xmlns:a16="http://schemas.microsoft.com/office/drawing/2014/main" id="{0C54DE0F-8174-DE24-FF47-54844FB6F352}"/>
              </a:ext>
            </a:extLst>
          </p:cNvPr>
          <p:cNvPicPr>
            <a:picLocks noChangeAspect="1"/>
          </p:cNvPicPr>
          <p:nvPr/>
        </p:nvPicPr>
        <p:blipFill>
          <a:blip r:embed="rId4"/>
          <a:stretch>
            <a:fillRect/>
          </a:stretch>
        </p:blipFill>
        <p:spPr>
          <a:xfrm>
            <a:off x="565833" y="838199"/>
            <a:ext cx="10560847" cy="4809067"/>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1ABE6-455A-4E5E-A1C7-D2560A41DC8E}"/>
              </a:ext>
            </a:extLst>
          </p:cNvPr>
          <p:cNvSpPr>
            <a:spLocks noGrp="1"/>
          </p:cNvSpPr>
          <p:nvPr>
            <p:ph type="title"/>
          </p:nvPr>
        </p:nvSpPr>
        <p:spPr>
          <a:xfrm>
            <a:off x="838200" y="365125"/>
            <a:ext cx="10515600" cy="1147989"/>
          </a:xfrm>
        </p:spPr>
        <p:txBody>
          <a:bodyPr>
            <a:normAutofit/>
          </a:bodyPr>
          <a:lstStyle/>
          <a:p>
            <a:r>
              <a:rPr lang="en-US" sz="2400" b="1" dirty="0">
                <a:latin typeface="+mj-lt"/>
              </a:rPr>
              <a:t>Output Screenshot 2</a:t>
            </a:r>
            <a:br>
              <a:rPr lang="en-US" sz="800" dirty="0"/>
            </a:br>
            <a:endParaRPr lang="en-IN" sz="1400" dirty="0">
              <a:latin typeface="+mj-lt"/>
            </a:endParaRPr>
          </a:p>
        </p:txBody>
      </p:sp>
      <p:pic>
        <p:nvPicPr>
          <p:cNvPr id="5" name="Picture 4">
            <a:extLst>
              <a:ext uri="{FF2B5EF4-FFF2-40B4-BE49-F238E27FC236}">
                <a16:creationId xmlns:a16="http://schemas.microsoft.com/office/drawing/2014/main" id="{F4F7ECCA-C97C-4494-ADB4-0CE8D1A4C70B}"/>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60232D6D-77C3-04E3-F239-F4207ED6D563}"/>
              </a:ext>
            </a:extLst>
          </p:cNvPr>
          <p:cNvPicPr>
            <a:picLocks noChangeAspect="1"/>
          </p:cNvPicPr>
          <p:nvPr/>
        </p:nvPicPr>
        <p:blipFill>
          <a:blip r:embed="rId3"/>
          <a:stretch>
            <a:fillRect/>
          </a:stretch>
        </p:blipFill>
        <p:spPr>
          <a:xfrm>
            <a:off x="567266" y="1253066"/>
            <a:ext cx="10447867" cy="4724401"/>
          </a:xfrm>
          <a:prstGeom prst="rect">
            <a:avLst/>
          </a:prstGeom>
        </p:spPr>
      </p:pic>
    </p:spTree>
    <p:extLst>
      <p:ext uri="{BB962C8B-B14F-4D97-AF65-F5344CB8AC3E}">
        <p14:creationId xmlns:p14="http://schemas.microsoft.com/office/powerpoint/2010/main" val="1963420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4B66-67C6-418D-8A6E-BFF2E6427D02}"/>
              </a:ext>
            </a:extLst>
          </p:cNvPr>
          <p:cNvSpPr>
            <a:spLocks noGrp="1"/>
          </p:cNvSpPr>
          <p:nvPr>
            <p:ph type="title"/>
          </p:nvPr>
        </p:nvSpPr>
        <p:spPr>
          <a:xfrm>
            <a:off x="838200" y="365125"/>
            <a:ext cx="10515600" cy="995589"/>
          </a:xfrm>
        </p:spPr>
        <p:txBody>
          <a:bodyPr>
            <a:normAutofit/>
          </a:bodyPr>
          <a:lstStyle/>
          <a:p>
            <a:r>
              <a:rPr lang="en-US" sz="2400" b="1" dirty="0">
                <a:latin typeface="+mj-lt"/>
              </a:rPr>
              <a:t>Output Screenshot 2</a:t>
            </a:r>
            <a:br>
              <a:rPr lang="en-US" sz="800" dirty="0"/>
            </a:br>
            <a:endParaRPr lang="en-IN" sz="2400" dirty="0">
              <a:latin typeface="+mj-lt"/>
            </a:endParaRPr>
          </a:p>
        </p:txBody>
      </p:sp>
      <p:pic>
        <p:nvPicPr>
          <p:cNvPr id="3" name="Picture 2">
            <a:extLst>
              <a:ext uri="{FF2B5EF4-FFF2-40B4-BE49-F238E27FC236}">
                <a16:creationId xmlns:a16="http://schemas.microsoft.com/office/drawing/2014/main" id="{884980EE-6987-4D30-A631-83DB0630D9F1}"/>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B62A6480-6CB9-3D4A-6558-ADDA33917899}"/>
              </a:ext>
            </a:extLst>
          </p:cNvPr>
          <p:cNvPicPr>
            <a:picLocks noChangeAspect="1"/>
          </p:cNvPicPr>
          <p:nvPr/>
        </p:nvPicPr>
        <p:blipFill>
          <a:blip r:embed="rId3"/>
          <a:stretch>
            <a:fillRect/>
          </a:stretch>
        </p:blipFill>
        <p:spPr>
          <a:xfrm>
            <a:off x="143934" y="914091"/>
            <a:ext cx="6443133" cy="4817534"/>
          </a:xfrm>
          <a:prstGeom prst="rect">
            <a:avLst/>
          </a:prstGeom>
        </p:spPr>
      </p:pic>
      <p:pic>
        <p:nvPicPr>
          <p:cNvPr id="8" name="Picture 7">
            <a:extLst>
              <a:ext uri="{FF2B5EF4-FFF2-40B4-BE49-F238E27FC236}">
                <a16:creationId xmlns:a16="http://schemas.microsoft.com/office/drawing/2014/main" id="{7F51EE9F-CBA1-87A6-BBB9-E06DBCF69034}"/>
              </a:ext>
            </a:extLst>
          </p:cNvPr>
          <p:cNvPicPr>
            <a:picLocks noChangeAspect="1"/>
          </p:cNvPicPr>
          <p:nvPr/>
        </p:nvPicPr>
        <p:blipFill>
          <a:blip r:embed="rId4"/>
          <a:stretch>
            <a:fillRect/>
          </a:stretch>
        </p:blipFill>
        <p:spPr>
          <a:xfrm>
            <a:off x="6587068" y="1244600"/>
            <a:ext cx="5460998" cy="3903133"/>
          </a:xfrm>
          <a:prstGeom prst="rect">
            <a:avLst/>
          </a:prstGeom>
        </p:spPr>
      </p:pic>
    </p:spTree>
    <p:extLst>
      <p:ext uri="{BB962C8B-B14F-4D97-AF65-F5344CB8AC3E}">
        <p14:creationId xmlns:p14="http://schemas.microsoft.com/office/powerpoint/2010/main" val="969930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9267"/>
            <a:ext cx="6444496" cy="760391"/>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508001" y="819658"/>
            <a:ext cx="11286066" cy="4949483"/>
          </a:xfrm>
          <a:prstGeom prst="rect">
            <a:avLst/>
          </a:prstGeom>
          <a:noFill/>
          <a:ln>
            <a:noFill/>
          </a:ln>
        </p:spPr>
        <p:txBody>
          <a:bodyPr spcFirstLastPara="1" wrap="square" lIns="0" tIns="0" rIns="0" bIns="0" anchor="t" anchorCtr="0">
            <a:noAutofit/>
          </a:bodyPr>
          <a:lstStyle/>
          <a:p>
            <a:r>
              <a:rPr lang="en-US" sz="1850" b="1" dirty="0">
                <a:solidFill>
                  <a:srgbClr val="2B3541"/>
                </a:solidFill>
                <a:latin typeface="Times New Roman"/>
                <a:ea typeface="Times New Roman"/>
                <a:cs typeface="Times New Roman"/>
                <a:sym typeface="Times New Roman"/>
              </a:rPr>
              <a:t>1.Integration with Genomic and Multi-Omics Data</a:t>
            </a:r>
          </a:p>
          <a:p>
            <a:r>
              <a:rPr lang="en-US" sz="1850" dirty="0">
                <a:solidFill>
                  <a:srgbClr val="2B3541"/>
                </a:solidFill>
                <a:latin typeface="Times New Roman"/>
                <a:ea typeface="Times New Roman"/>
                <a:cs typeface="Times New Roman"/>
                <a:sym typeface="Times New Roman"/>
              </a:rPr>
              <a:t>Future systems will incorporate genomic, proteomic, and metabolomic data to enable highly precise risk predictions. This integration will allow early identification of genetic predispositions to diseases, leading to more personalized preventive strategies and precision medicine.</a:t>
            </a:r>
          </a:p>
          <a:p>
            <a:endParaRPr lang="en-US" sz="1850" dirty="0">
              <a:solidFill>
                <a:srgbClr val="2B3541"/>
              </a:solidFill>
              <a:latin typeface="Times New Roman"/>
              <a:ea typeface="Times New Roman"/>
              <a:cs typeface="Times New Roman"/>
              <a:sym typeface="Times New Roman"/>
            </a:endParaRPr>
          </a:p>
          <a:p>
            <a:r>
              <a:rPr lang="en-US" sz="1850" b="1" dirty="0">
                <a:solidFill>
                  <a:srgbClr val="2B3541"/>
                </a:solidFill>
                <a:latin typeface="Times New Roman"/>
                <a:ea typeface="Times New Roman"/>
                <a:cs typeface="Times New Roman"/>
                <a:sym typeface="Times New Roman"/>
              </a:rPr>
              <a:t>2.Advanced Predictive and Prescriptive Analytics</a:t>
            </a:r>
          </a:p>
          <a:p>
            <a:r>
              <a:rPr lang="en-US" sz="1850" dirty="0">
                <a:solidFill>
                  <a:srgbClr val="2B3541"/>
                </a:solidFill>
                <a:latin typeface="Times New Roman"/>
                <a:ea typeface="Times New Roman"/>
                <a:cs typeface="Times New Roman"/>
                <a:sym typeface="Times New Roman"/>
              </a:rPr>
              <a:t>Next-generation models will move beyond risk prediction to prescriptive analytics, recommending optimized preventive actions and treatment pathways. Reinforcement learning and causal AI techniques will enable systems to learn optimal intervention strategies over time.</a:t>
            </a:r>
          </a:p>
          <a:p>
            <a:endParaRPr lang="en-US" sz="1850" b="1" dirty="0">
              <a:solidFill>
                <a:srgbClr val="2B3541"/>
              </a:solidFill>
              <a:latin typeface="Times New Roman"/>
              <a:ea typeface="Times New Roman"/>
              <a:cs typeface="Times New Roman"/>
              <a:sym typeface="Times New Roman"/>
            </a:endParaRPr>
          </a:p>
          <a:p>
            <a:r>
              <a:rPr lang="en-US" sz="1850" b="1" dirty="0">
                <a:solidFill>
                  <a:srgbClr val="2B3541"/>
                </a:solidFill>
                <a:latin typeface="Times New Roman"/>
                <a:ea typeface="Times New Roman"/>
                <a:cs typeface="Times New Roman"/>
                <a:sym typeface="Times New Roman"/>
              </a:rPr>
              <a:t>3.Population-Level and Public Health Applications</a:t>
            </a:r>
          </a:p>
          <a:p>
            <a:r>
              <a:rPr lang="en-US" sz="1850" dirty="0">
                <a:solidFill>
                  <a:srgbClr val="2B3541"/>
                </a:solidFill>
                <a:latin typeface="Times New Roman"/>
                <a:ea typeface="Times New Roman"/>
                <a:cs typeface="Times New Roman"/>
                <a:sym typeface="Times New Roman"/>
              </a:rPr>
              <a:t>AI-based preventive systems will be increasingly used for population health management. Large-scale risk analytics will support public health surveillance, early outbreak detection, and targeted preventive programs at regional and national levels.</a:t>
            </a:r>
          </a:p>
          <a:p>
            <a:endParaRPr lang="en-US" sz="1850" dirty="0">
              <a:solidFill>
                <a:srgbClr val="2B3541"/>
              </a:solidFill>
              <a:latin typeface="Times New Roman"/>
              <a:ea typeface="Times New Roman"/>
              <a:cs typeface="Times New Roman"/>
              <a:sym typeface="Times New Roman"/>
            </a:endParaRPr>
          </a:p>
          <a:p>
            <a:r>
              <a:rPr lang="en-US" sz="1850" b="1" dirty="0">
                <a:solidFill>
                  <a:srgbClr val="2B3541"/>
                </a:solidFill>
                <a:latin typeface="Times New Roman"/>
                <a:ea typeface="Times New Roman"/>
                <a:cs typeface="Times New Roman"/>
                <a:sym typeface="Times New Roman"/>
              </a:rPr>
              <a:t>4.Regulatory Acceptance and Clinical Standardization</a:t>
            </a:r>
          </a:p>
          <a:p>
            <a:r>
              <a:rPr lang="en-US" sz="1850" dirty="0">
                <a:solidFill>
                  <a:srgbClr val="2B3541"/>
                </a:solidFill>
                <a:latin typeface="Times New Roman"/>
                <a:ea typeface="Times New Roman"/>
                <a:cs typeface="Times New Roman"/>
                <a:sym typeface="Times New Roman"/>
              </a:rPr>
              <a:t>As regulatory frameworks mature, AI-based preventive health systems are expected to become standardized components of clinical practice. Regulatory approval and clinical guidelines will further accelerate adoption in mainstream healthcare</a:t>
            </a: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91199"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ADD503B3-F690-D0A8-2B75-C38454F740DE}"/>
              </a:ext>
            </a:extLst>
          </p:cNvPr>
          <p:cNvSpPr txBox="1"/>
          <p:nvPr/>
        </p:nvSpPr>
        <p:spPr>
          <a:xfrm>
            <a:off x="1103516" y="1393947"/>
            <a:ext cx="6097384" cy="307777"/>
          </a:xfrm>
          <a:prstGeom prst="rect">
            <a:avLst/>
          </a:prstGeom>
          <a:noFill/>
        </p:spPr>
        <p:txBody>
          <a:bodyPr wrap="square">
            <a:spAutoFit/>
          </a:bodyPr>
          <a:lstStyle/>
          <a:p>
            <a:r>
              <a:rPr lang="en-US" dirty="0"/>
              <a:t>https://github.com/nisargasgowda95-lang/Healthcare</a:t>
            </a:r>
          </a:p>
        </p:txBody>
      </p:sp>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Technology used</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​IBM Granite 3.0 Model Family: Official documentation for enterprise-grade LLMs and reasoning capabilities</a:t>
            </a:r>
            <a:r>
              <a:rPr lang="en-US" u="sng" dirty="0">
                <a:solidFill>
                  <a:srgbClr val="2B3541"/>
                </a:solidFill>
                <a:latin typeface="Times New Roman"/>
                <a:ea typeface="Times New Roman"/>
                <a:cs typeface="Times New Roman"/>
                <a:sym typeface="Times New Roman"/>
              </a:rPr>
              <a:t>. ibm.com/granite</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t>
            </a:r>
            <a:r>
              <a:rPr lang="en-US" dirty="0" err="1">
                <a:solidFill>
                  <a:srgbClr val="2B3541"/>
                </a:solidFill>
                <a:latin typeface="Times New Roman"/>
                <a:ea typeface="Times New Roman"/>
                <a:cs typeface="Times New Roman"/>
                <a:sym typeface="Times New Roman"/>
              </a:rPr>
              <a:t>LangFlow</a:t>
            </a:r>
            <a:r>
              <a:rPr lang="en-US" dirty="0">
                <a:solidFill>
                  <a:srgbClr val="2B3541"/>
                </a:solidFill>
                <a:latin typeface="Times New Roman"/>
                <a:ea typeface="Times New Roman"/>
                <a:cs typeface="Times New Roman"/>
                <a:sym typeface="Times New Roman"/>
              </a:rPr>
              <a:t> Orchestration: Low-code platform for building multi-agent AI workflows. </a:t>
            </a:r>
            <a:r>
              <a:rPr lang="en-US" u="sng" dirty="0">
                <a:solidFill>
                  <a:srgbClr val="2B3541"/>
                </a:solidFill>
                <a:latin typeface="Times New Roman"/>
                <a:ea typeface="Times New Roman"/>
                <a:cs typeface="Times New Roman"/>
                <a:sym typeface="Times New Roman"/>
              </a:rPr>
              <a:t>docs.langflow.org</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​IBM WatsonX.ai: Enterprise studio for AI builders to train, validate, and deploy models. </a:t>
            </a:r>
            <a:r>
              <a:rPr lang="en-US" u="sng" dirty="0">
                <a:solidFill>
                  <a:srgbClr val="2B3541"/>
                </a:solidFill>
                <a:latin typeface="Times New Roman"/>
                <a:ea typeface="Times New Roman"/>
                <a:cs typeface="Times New Roman"/>
                <a:sym typeface="Times New Roman"/>
              </a:rPr>
              <a:t>ibm.com/</a:t>
            </a:r>
            <a:r>
              <a:rPr lang="en-US" u="sng" dirty="0" err="1">
                <a:solidFill>
                  <a:srgbClr val="2B3541"/>
                </a:solidFill>
                <a:latin typeface="Times New Roman"/>
                <a:ea typeface="Times New Roman"/>
                <a:cs typeface="Times New Roman"/>
                <a:sym typeface="Times New Roman"/>
              </a:rPr>
              <a:t>watsonx</a:t>
            </a:r>
            <a:endParaRPr lang="en-US" u="sng"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​Domain Research (Traffic Analysis)</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​Intelligent Traffic Management: Research on reducing CO2 emissions and fuel consumption via predictive flow analysis. (Source: NIH/PMC12552707)</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​Agentic AI in Transportation: Exploring the transition from static traffic signals to dynamic, autonomous reasoning agents. (Source: IEEE </a:t>
            </a:r>
            <a:r>
              <a:rPr lang="en-US" dirty="0" err="1">
                <a:solidFill>
                  <a:srgbClr val="2B3541"/>
                </a:solidFill>
                <a:latin typeface="Times New Roman"/>
                <a:ea typeface="Times New Roman"/>
                <a:cs typeface="Times New Roman"/>
                <a:sym typeface="Times New Roman"/>
              </a:rPr>
              <a:t>Xplore</a:t>
            </a:r>
            <a:r>
              <a:rPr lang="en-US" dirty="0">
                <a:solidFill>
                  <a:srgbClr val="2B3541"/>
                </a:solidFill>
                <a:latin typeface="Times New Roman"/>
                <a:ea typeface="Times New Roman"/>
                <a:cs typeface="Times New Roman"/>
                <a:sym typeface="Times New Roman"/>
              </a:rPr>
              <a:t> / MDPI)</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​Open Source </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t>
            </a:r>
            <a:r>
              <a:rPr lang="en-US" dirty="0" err="1">
                <a:solidFill>
                  <a:srgbClr val="2B3541"/>
                </a:solidFill>
                <a:latin typeface="Times New Roman"/>
                <a:ea typeface="Times New Roman"/>
                <a:cs typeface="Times New Roman"/>
                <a:sym typeface="Times New Roman"/>
              </a:rPr>
              <a:t>LangChain</a:t>
            </a:r>
            <a:r>
              <a:rPr lang="en-US" dirty="0">
                <a:solidFill>
                  <a:srgbClr val="2B3541"/>
                </a:solidFill>
                <a:latin typeface="Times New Roman"/>
                <a:ea typeface="Times New Roman"/>
                <a:cs typeface="Times New Roman"/>
                <a:sym typeface="Times New Roman"/>
              </a:rPr>
              <a:t> Components: Standard library for enhancing LLM utility with context-aware tools.</a:t>
            </a:r>
            <a:endParaRPr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1372</TotalTime>
  <Words>1087</Words>
  <Application>Microsoft Office PowerPoint</Application>
  <PresentationFormat>Widescreen</PresentationFormat>
  <Paragraphs>138</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AI –Based Preventive Health Risk Assessment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Screenshot 2 </vt:lpstr>
      <vt:lpstr>Output Screenshot 2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nisha nisarga</cp:lastModifiedBy>
  <cp:revision>131</cp:revision>
  <dcterms:created xsi:type="dcterms:W3CDTF">2025-07-08T05:06:56Z</dcterms:created>
  <dcterms:modified xsi:type="dcterms:W3CDTF">2026-02-01T11:50:14Z</dcterms:modified>
</cp:coreProperties>
</file>